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6527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Aptos Display"/>
              </a:rPr>
              <a:t>Part 0 — Series Orientation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286000"/>
            <a:ext cx="10149840" cy="182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ptos"/>
              </a:rPr>
              <a:t>PowerShell, Node.js, configuration, and Python CLI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0 — Series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 / 340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Modern development requires more than application code.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Developers navigate, automate, install, test, configure, and verify.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PowerShell provides one programmable Windows workflow.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0 — Series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 / 340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Operate confidently from PowerShell.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Build and test Node.js and Python command-line projects.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Protect secrets and verify production-style workflows.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0 — Series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 / 340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The final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PowerShell controls the local workflow.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Node.js provides an HTTP service.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Python provides an installable task CLI.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0 — Series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4 / 340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Target audience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Windows developers new to terminals.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JavaScript and Python beginners.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Engineers standardizing local setup.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0 — Series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5 / 340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Learning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Explain before implementation.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Predict before execution.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Verify before continuing.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0 — Series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6 / 340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Implementation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The Target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The Concept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The Implementation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The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0 — Series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7 / 340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Architectural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Filesystem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Runtime and packages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Automation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Configuration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Developer convenience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0 — Series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8 / 340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Production-conscious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Explicit configuration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Automated checks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Graceful failure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No secrets in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0 — Series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9 / 340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Disposable laboratories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Practice away from personal files.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Use known directory structures.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Reset safely when necessary.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0 — Series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10 / 340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Course progression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Navigate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Manage files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Build services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Configure runtimes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Automate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0 — Series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11 / 340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1. Learn the shell.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2. Control the filesystem.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3. Build the Node.js service.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4. Validate runtime configuration.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5. Build the Python CLI.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0 — Series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12 / 340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Inspect PowerShell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$PSVersionTable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$PSVersionTable.PSVersion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0 — Series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13 / 340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Inspect Node.js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node --version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npm.cmd --version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npx.cmd --version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0 — Series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14 / 340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Inspect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py --version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py --list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py -3 --version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0 — Series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15 / 340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Locate your 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$HOME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Get-Location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Set-Location -Path $HOME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0 — Series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16 / 340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Use normal user privileges.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Never publish real secrets.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Run destructive exercises only in named laboratories.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Preview supported mutations with -WhatIf.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0 — Series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17 / 340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Record PowerShell, Node.js, npm, and Python versions.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Identify your user home directory.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Open two PowerShell terminals.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0 — Series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18 / 340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Required tools are available.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Home-directory writes are permitted.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The safety agreement is understood.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0 — Series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19 / 340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Module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PowerShell is the workflow foundation.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Every phase builds on earlier phases.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Verification is part of implementation.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0 — Series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20 / 340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6527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Aptos Display"/>
              </a:rPr>
              <a:t>Primer 1 — Reading PowerShell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286000"/>
            <a:ext cx="10149840" cy="182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ptos"/>
              </a:rPr>
              <a:t>Commands are predictable structures, not magic strings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1 — Reading PowerShell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21 / 340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Dense commands become manageable when divided into parts.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Reading syntax prevents blind copy-and-paste behavior.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PowerShell is designed for command discovery.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1 — Reading PowerShell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22 / 340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Identify commands, parameters, values, and switches.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Read object pipelines from left to right.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Use built-in help instead of guessing.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1 — Reading PowerShell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23 / 340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Verb–Noun cmdlets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The verb describes the action.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The noun describes the resource.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Example: Get-ChildItem.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1 — Reading PowerShell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24 / 340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Named settings begin with a hyphen.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Some parameters require values.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Example: -Path .\src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1 — Reading PowerShell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25 / 340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Switch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Presence enables behavior.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No separate true value is normally needed.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Examples: -File and -Recurse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1 — Reading PowerShell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26 / 340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Names begin with $.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Variables can hold strings, numbers, or objects.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Example: $projectRoot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1 — Reading PowerShell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27 / 340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Objects and properties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PowerShell returns structured objects.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Dot notation reads properties.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Example: $file.Length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1 — Reading PowerShell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28 / 340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The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The | operator passes objects.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Each stage performs one responsibility.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Read stages from left to right.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1 — Reading PowerShell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29 / 340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The current object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$_ means the current pipeline object.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$_.Extension reads one property.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Common inside Where-Object.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1 — Reading PowerShell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30 / 340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Quotes and expansion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Double quotes expand variables.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Single quotes preserve literal text.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Quote paths containing spaces.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1 — Reading PowerShell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31 / 340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1. Find the command.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2. Match parameters with values.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3. Identify pipeline boundaries.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4. Inspect properties and conditions.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5. Determine whether state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1 — Reading PowerShell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32 / 340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Discover a command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Get-Command -Name Get-ChildItem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1 — Reading PowerShell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33 / 340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Read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Get-Help -Name Get-ChildItem -Examples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1 — Reading PowerShell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34 / 340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Inspect an object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Get-Item .\package.json |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    Get-Member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1 — Reading PowerShell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35 / 340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Inspect aliases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Get-Alias -Name pwd, cd, dir, 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1 — Reading PowerShell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36 / 340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Do not type prompt text.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Do not treat output as another command.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Identify state-changing verbs before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1 — Reading PowerShell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37 / 340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Deconstruct one pipeline.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Explain $_ in your own words.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Compare single and double quotes.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1 — Reading PowerShell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38 / 340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Cmdlet anatomy is recognizable.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Pipeline stages can be explained.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Built-in help can be used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1 — Reading PowerShell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39 / 340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Module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Commands have predictable parts.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Pipelines pass objects.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Discovery is better than memorization.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1 — Reading PowerShell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40 / 340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6527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Aptos Display"/>
              </a:rPr>
              <a:t>Primer 2 — Filesystem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286000"/>
            <a:ext cx="10149840" cy="182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ptos"/>
              </a:rPr>
              <a:t>Locate, resolve, inspect, preview, execute,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2 — Filesystem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41 / 340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 short command can affect thousands of files.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Relative paths silently depend on current location.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Command-line deletion may be permanent.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2 — Filesystem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42 / 340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Validate destructive targets.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Use WhatIf and Confirm appropriately.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Verify intended changes and unrelated survivors.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2 — Filesystem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43 / 340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Locate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Display the current directory.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Relative paths begin here.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Location is part of the command.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2 — Filesystem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44 / 340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Resolve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Convert assumptions into complete paths.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Resolve only existing items.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Validate missing destination parents separately.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2 — Filesystem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45 / 340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Inspect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Check file versus directory.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Include hidden descendants.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Build a deletion inventory.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2 — Filesystem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46 / 340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Preview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-WhatIf describes supported changes.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It does not create a backup.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It does not guarantee later success.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2 — Filesystem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47 / 340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Execute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Use exact validated paths.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Use -ErrorAction Stop.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Perform the smallest intended mutation.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2 — Filesystem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48 / 340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Check target absence or destination presence.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Verify unrelated items survived.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Check content when copying.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2 — Filesystem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49 / 340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Recurse and Force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-Recurse expands through descendants.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-Force handles some provider restrictions.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Neither creates an undo mechanism.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2 — Filesystem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50 / 340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Boundary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Path prefixes are guardrails.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Reparse points can redirect access.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Concurrent changes can affect outcomes.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2 — Filesystem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51 / 340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1. Locate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2. Resolve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3. Inspect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4. Preview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5. Execute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6.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2 — Filesystem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52 / 340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Resolve a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$resolved = Resolve-Path `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    -LiteralPath $target `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    -ErrorAction Stop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2 — Filesystem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53 / 340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Inspect a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Get-ChildItem `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    -LiteralPath $target `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    -Recurse -Force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2 — Filesystem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54 / 340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Preview removal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Remove-Item `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    -LiteralPath $target `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    -Recurse -WhatIf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2 — Filesystem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55 / 340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Verify removal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Test-Path -LiteralPath $target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2 — Filesystem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56 / 340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Never practice at a drive root.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Materialize wildcard matches before deletion.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Avoid unnecessary administrator sessions.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Treat Remove-Item as permanent.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2 — Filesystem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57 / 340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Inventory one disposable tree.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Preview a recursive deletion.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Verify an unrelated sibling remains.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2 — Filesystem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58 / 340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The six-stage safety process is applied.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Force is not treated as a permission bypass.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Broad wildcards are avoided.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2 — Filesystem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59 / 340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Module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Safety is a workflow, not one flag.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Exact paths reduce accidental scope.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Verification must include survivors.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2 — Filesystem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60 / 340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6527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Aptos Display"/>
              </a:rPr>
              <a:t>Part 1 — Filesystem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286000"/>
            <a:ext cx="10149840" cy="182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ptos"/>
              </a:rPr>
              <a:t>Move through Windows without relying on File Explorer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1 — Filesystem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61 / 340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Every shell command operates from a location.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Project automation depends on predictable paths.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Object-based inspection is more reliable than visual guessing.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1 — Filesystem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62 / 340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Navigate absolute and relative paths.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List and filter filesystem objects.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Move between available drives and location stacks.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1 — Filesystem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63 / 340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Current 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Get-Location returns a location object.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pwd is an alias.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The Path property contains the string.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1 — Filesystem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64 / 340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Home directory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$HOME is portable across users.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~ is path shorthand.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Avoid hardcoded usernames.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1 — Filesystem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65 / 340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Absolute paths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Include drive and complete ancestry.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Do not depend on current location.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Useful for predictable automation.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1 — Filesystem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66 / 340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Relative paths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. means current directory.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.. means parent directory.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Relative meaning changes with location.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1 — Filesystem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67 / 340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Tab completion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Completes commands and paths.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Reduces spelling mistakes.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Shift+Tab moves backward.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1 — Filesystem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68 / 340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Child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Get-ChildItem lists contents.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-File and -Directory narrow results.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-Force includes hidden items.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1 — Filesystem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69 / 340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Recursive inspection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-Recurse descends into child directories.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-Depth can limit traversal.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-Filter narrows provider results.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1 — Filesystem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70 / 340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Location stacks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Push-Location saves and moves.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Pop-Location restores.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Useful for temporary visits.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1 — Filesystem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71 / 340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1. Identify the current location.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2. Validate the destination.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3. Navigate.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4. Inspect immediate contents.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5. Expand only when necessary.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1 — Filesystem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72 / 340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Navigate 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Set-Location -Path $HOME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1 — Filesystem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73 / 340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Enter a child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Set-Location -Path .\documents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1 — Filesystem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74 / 340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Find JSON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Get-ChildItem `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    -Path . `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    -Filter "*.json" `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    -File -Recurse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1 — Filesystem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75 / 340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List filesystem drives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Get-PSDrive -PSProvider FileSystem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1 — Filesystem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76 / 340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Check location before relative mutations.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Do not recurse from a drive root casually.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Quote paths containing spaces.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1 — Filesystem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77 / 340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Navigate from home to the laboratory.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Find hidden and recursive items.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Save and restore a location.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1 — Filesystem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78 / 340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Absolute and relative paths are distinguishable.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Hidden items can be found.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Drive availability is checked rather than assumed.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1 — Filesystem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79 / 340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Module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Location controls relative meaning.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Get-ChildItem returns objects.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Navigation can be scripted and verified.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1 — Filesystem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80 / 340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6527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Aptos Display"/>
              </a:rPr>
              <a:t>Part 2 — File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286000"/>
            <a:ext cx="10149840" cy="182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ptos"/>
              </a:rPr>
              <a:t>Create, copy, move, rename, and remove with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2 — File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81 / 340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Developers manipulate project files constantly.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Repeatable commands outperform manual rearrangement.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Mutations require verification and boundaries.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2 — File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82 / 340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Create complete directory trees and files.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Copy and move resources safely.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Build reusable ShouldProcess-aware tools.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2 — File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83 / 340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Creating directories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New-Item creates resources.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-ItemType Directory is explicit.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-Force can create missing parents.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2 — File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84 / 340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Creating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-ItemType File creates an empty file.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Set-Content replaces content.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Add-Content appends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2 — File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85 / 340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Copying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Copy-Item preserves the source.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 destination may rename the copy.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-Recurse copies directory trees.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2 — File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86 / 340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Moving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Move-Item relocates a resource.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The original path normally disappears.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 destination can also rename.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2 — File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87 / 340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Renaming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Rename-Item changes the local name.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Use Move-Item to change parents.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Verify old and new paths.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2 — File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88 / 340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Deletion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Remove-Item deletes exact targets.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Nonempty directories require recursion.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Preview before permanent removal.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2 — File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89 / 340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Attributes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Hidden affects ordinary visibility.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ReadOnly discourages modification.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Attributes are not security boundaries.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2 — File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90 / 340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Content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Existence is a weak check.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Length is stronger but incomplete.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SHA-256 hashes verify copied bytes.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2 — File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91 / 340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1. Validate source.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2. Validate destination parent.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3. Preview when supported.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4. Perform the mutation.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5. Verify both ends.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2 — File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92 / 340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Create nested directories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New-Item `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    -Path .\workspace\data\raw `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    -ItemType Directory -Force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2 — File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93 / 340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Copy one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Copy-Item `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    -LiteralPath $source `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    -Destination $destination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2 — File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94 / 340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Move and rename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Move-Item `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    -LiteralPath $source `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    -Destination $newPath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2 — File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95 / 340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Compare hashes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Get-FileHash `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    -LiteralPath $path `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    -Algorithm SHA256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2 — File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96 / 340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Do not overwrite unexpected destinations.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Inspect wildcard matches before mutation.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Use exact paths for destructive 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2 — File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97 / 340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Create JSON, CSV, and JavaScript files.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Copy and hash-verify one file.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Move, rename, and verify both paths.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2 — File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98 / 340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File content is complete and valid.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Copies are verified.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Deletion follows the six-stage workflow.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2 — File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99 / 340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Module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Filesystem mutations are programmable.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Copy and move have different semantics.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Successful commands still require verification.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2 — File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100 / 340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6527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Aptos Display"/>
              </a:rPr>
              <a:t>Primer 3 — JavaScript and Node.js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286000"/>
            <a:ext cx="10149840" cy="182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ptos"/>
              </a:rPr>
              <a:t>Language, runtime, modules, asynchronous work, and 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3 — JavaScript and Node.js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101 / 340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The Node.js project uses JavaScript outside a browser.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 small language foundation makes the service understandable.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Process behavior matters for command-line applications.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3 — JavaScript and Node.js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102 / 340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Explain JavaScript versus Node.js.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Read CommonJS modules and asynchronous code.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Understand process arguments and exit codes.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3 — JavaScript and Node.js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103 / 340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Language and 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JavaScript defines the language.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Node.js executes it outside a browser.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Node supplies server and OS APIs.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3 — JavaScript and Node.js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104 / 340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Values and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Strings, numbers, and Booleans are common.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Use const by default.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Use let for intentional reassignment.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3 — JavaScript and Node.js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105 / 340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Arrays and objects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Arrays are ordered collections.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Objects use named properties.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JSON is text, not an in-memory object.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3 — JavaScript and Node.js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106 / 340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Parameters receive input.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return provides a result.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Small functions isolate responsibilities.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3 — JavaScript and Node.js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107 / 340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CommonJS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module.exports exposes an interface.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require imports a module.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./ identifies a nearby module.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3 — JavaScript and Node.js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108 / 340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Promises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 Promise represents a future outcome.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It may fulfill or reject.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async functions return Promises.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3 — JavaScript and Node.js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109 / 340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Error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throw reports invalid state.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try and catch handle failure.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Nonzero exit codes communicate failure.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3 — JavaScript and Node.js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110 / 340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The process object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process.argv contains arguments.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process.env contains environment strings.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process.cwd reports working directory.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3 — JavaScript and Node.js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111 / 340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1. Receive input.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2. Validate values.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3. Call focused functions.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4. Handle asynchronous work.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5. Report success or failure.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3 — JavaScript and Node.js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112 / 340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Execute JavaScript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node -e 'console.log("Hello");'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3 — JavaScript and Node.js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113 / 340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Check syntax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node --check .\src\index.js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3 — JavaScript and Node.js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114 / 340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Run a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node .\src\index.js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3 — JavaScript and Node.js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115 / 340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Run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node --test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3 — JavaScript and Node.js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116 / 340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Do not print complete environments.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Validate external input.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Use nonzero exit codes for failures.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3 — JavaScript and Node.js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117 / 340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Write and call one function.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Export and import one module.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Serialize and parse JSON.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3 — JavaScript and Node.js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118 / 340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The runtime and language are distinguishable.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Promise and async vocabulary is understood.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Process exit behavior can be explained.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3 — JavaScript and Node.js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119 / 340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Module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Node.js runs JavaScript.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Modules separate responsibilities.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Processes expose arguments, environment, and status.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3 — JavaScript and Node.js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120 / 340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6527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Aptos Display"/>
              </a:rPr>
              <a:t>Part 3 — npm and Project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286000"/>
            <a:ext cx="10149840" cy="182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ptos"/>
              </a:rPr>
              <a:t>Dependencies, scripts, testing, builds, and 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3 — npm and Project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121 / 340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Projects need repeatable dependency and automation workflows.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Package metadata is part of the architecture.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 quality gate combines independent checks.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3 — npm and Project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122 / 340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Initialize and operate an npm project.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Distinguish manifests, lockfiles, and installed packages.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Build and run a tested Node.js service.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3 — npm and Project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123 / 340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Node, npm, and npx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node executes JavaScript.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npm manages packages and scripts.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npx runs package executables.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3 — npm and Project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124 / 340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package.json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Declares metadata.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Declares dependencies.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Defines project scripts.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3 — npm and Project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125 / 340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package-lock.json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Records exact dependency resolution.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Supports reproducible installation.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Normally belongs in Git.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3 — npm and Project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126 / 340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node_modules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Contains installed package files.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Includes transitive dependencies.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Generated and normally ignored.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3 — npm and Project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127 / 340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Dependency classes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dependencies are needed at runtime.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devDependencies support development.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Version ranges require review.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3 — npm and Project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128 / 340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npm scripts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Scripts standardize project operations.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Local binaries are placed on PATH.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Lifecycle hooks run automatically.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3 — npm and Project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129 / 340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npm install versus 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install supports dependency development.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ci requires a lockfile.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ci performs a clean reproducible install.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3 — npm and Project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130 / 340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Execution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PowerShell may select npm.ps1.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npm.cmd avoids the script wrapper.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Use the narrowest policy response.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3 — npm and Project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131 / 340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1. Initialize.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2. Declare dependencies.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3. Install.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4. Lint and test.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5. Build.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6. Run generated output.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3 — npm and Project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132 / 340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Initialize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npm.cmd init -y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3 — npm and Project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133 / 340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Install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npm.cmd install express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npm.cmd install --save-dev eslint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3 — npm and Project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134 / 340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Clean install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npm.cmd 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3 — npm and Project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135 / 340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Quality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npm.cmd run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3 — npm and Project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136 / 340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Review unfamiliar packages before execution.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Do not treat npx as a sandbox.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Do not weaken execution policy globally.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3 — npm and Project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137 / 340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Inspect the manifest and lockfile.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Run local ESLint through npm.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Delete and reconstruct node_modules with npm ci.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3 — npm and Project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138 / 340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The dependency tree is valid.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Tests and linting pass.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Generated output can start.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3 — npm and Project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139 / 340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Module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The manifest declares intent.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The lockfile records exact resolution.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Scripts make operations repeatable.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3 — npm and Project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140 / 340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6527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Aptos Display"/>
              </a:rPr>
              <a:t>Node.js HTTP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286000"/>
            <a:ext cx="10149840" cy="182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ptos"/>
              </a:rPr>
              <a:t>Requests, responses, routes, status codes, and shutdown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Node.js HTTP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141 / 340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HTTP services expose application behavior to clients.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Real requests verify more than isolated functions.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Process lifecycle is part of service reliability.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Node.js HTTP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142 / 340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Explain request-response flow.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Call and test JSON endpoints.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Shut down a server gracefully.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Node.js HTTP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143 / 340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Client and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 client sends a request.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 server returns a response.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PowerShell can act as the client.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Node.js HTTP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144 / 340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Host and 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The host identifies an interface.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The port identifies a listening application.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127.0.0.1 is local loopback.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Node.js HTTP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145 / 340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GET retrieves.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POST submits data.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Methods do not provide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Node.js HTTP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146 / 340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Routes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/ returns service information.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/health reports operational state.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/echo returns parsed JSON.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Node.js HTTP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147 / 340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Status codes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200 means success.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400 means bad request.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404 means not found.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500 means server failure.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Node.js HTTP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148 / 340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Headers and bodies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Content-Type identifies representation.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JSON bodies are structured text.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Body sizes should be limited.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Node.js HTTP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149 / 340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Port 0 requests an available test port.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Tests send real HTTP requests.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Servers must be closed after tests.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Node.js HTTP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150 / 340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Graceful shutdown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SIGINT often follows Ctrl+C.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SIGTERM requests termination.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Close listeners before process exit.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Node.js HTTP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151 / 340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1. Load configuration.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2. Construct the application.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3. Open the listener.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4. Handle requests.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5. Close on termination.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Node.js HTTP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152 / 340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Call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Invoke-RestMethod `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    -Uri "http://127.0.0.1:3000/health" `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    -Method 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Node.js HTTP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153 / 340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Create JSON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$body = @{ message = "Hello" } |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    ConvertTo-Json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Node.js HTTP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154 / 340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POST JSON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Invoke-RestMethod `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    -Uri "http://127.0.0.1:3000/echo" `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    -Method Post `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    -ContentType "application/json" `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    -Body $body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Node.js HTTP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155 / 340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Inspect a 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Get-NetTCPConnection `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    -LocalPort 3000 `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    -ErrorAction SilentlyContinue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Node.js HTTP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156 / 340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Limit request bodies.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Do not log credentials or complete environments.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Identify processes before stopping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Node.js HTTP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157 / 340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Call GET /health.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Send a JSON POST to /echo.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Verify a structured 404 response.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Node.js HTTP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158 / 340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Methods and status codes are understood.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HTTP responses are verified.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Server processes are cleaned 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Node.js HTTP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159 / 340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Module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HTTP is request-response communication.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Status codes communicate outcomes.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Lifecycle handling belongs in the architecture.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Node.js HTTP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160 / 340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6527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Aptos Display"/>
              </a:rPr>
              <a:t>Primer 4 — Processes and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286000"/>
            <a:ext cx="10149840" cy="182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ptos"/>
              </a:rPr>
              <a:t>Inheritance, strings, scope, configuration, and secrets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4 — Processes and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161 / 340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Applications need values that vary by environment.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Process inheritance determines what programs receive.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Secrets require stricter handling than public settings.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4 — Processes and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162 / 340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Explain parent-child environment inheritance.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Manage process, user, and machine values.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Classify configuration and secrets.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4 — Processes and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163 / 340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Processes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 process is a running program.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PowerShell starts child processes.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Children receive environment copies.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4 — Processes and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164 / 340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Environment provider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Env: exposes current process variables.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$env:NAME reads or writes a value.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Get-ChildItem Env: lists variables.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4 — Processes and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165 / 340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Process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Temporary for the current process.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Inherited by future children.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Removed when the shell exits.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4 — Processes and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166 / 340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User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Persistent for the current user.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Available to newly started processes.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Existing shells do not auto-refresh.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4 — Processes and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167 / 340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Machine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Broader persistent scope.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May require administrator permission.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Use only when necessary.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4 — Processes and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168 / 340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String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Environment values are strings.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"false" is still a nonempty string.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Applications must convert explicitly.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4 — Processes and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169 / 340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Host, port, mode, and log level.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Often safe for limited diagnostics.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Still requires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4 — Processes and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170 / 340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Secrets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Passwords, tokens, and private keys.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Do not log or commit.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Rotate after exposure.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4 — Processes and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171 / 340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1. Receive inherited strings.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2. Load approved fallbacks.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3. Validate and convert.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4. Separate private and public values.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5. Start the application.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4 — Processes and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172 / 340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List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Get-ChildItem Env: |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    Sort-Object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4 — Processes and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173 / 340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Set temporarily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$env:NODE_ENV = "development"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$env:PORT = "3000"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4 — Processes and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174 / 340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Remove temporarily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Remove-Item `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    Env:NODE_ENV, Env:PORT `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    -ErrorAction SilentlyContinue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4 — Processes and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175 / 340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Read user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[System.Environment]::GetEnvironmentVariable(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    "EXAMPLE_NAME",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    [System.EnvironmentVariableTarget]::User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4 — Processes and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176 / 340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Do not print process.env or the complete Env: drive publicly.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Do not persist secrets unnecessarily.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Keep project values out of global profiles.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4 — Processes and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177 / 340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Pass one variable to Node.js.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Prove a child cannot modify its parent.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Remove temporary state in finally.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4 — Processes and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178 / 340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Inheritance direction is understood.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Scope differences are clear.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Secrets are classified correctly.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4 — Processes and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179 / 340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Module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Children inherit environment copies.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Values arrive as strings.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Secrets require omission and rotation controls.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Primer 4 — Processes and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180 / 340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6527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Aptos Display"/>
              </a:rPr>
              <a:t>Part 4 — Runtime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286000"/>
            <a:ext cx="10149840" cy="182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ptos"/>
              </a:rPr>
              <a:t>.env fallback, validation, public output, and profiles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4 — Runtime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181 / 340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Hardcoded settings prevent flexible deployment.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Invalid configuration should fail before startup.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Public diagnostics must omit secrets.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4 — Runtime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182 / 340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Load and validate runtime configuration.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Apply environment-over-.env precedence.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Create safe PowerShell profile helpers.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4 — Runtime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183 / 340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.env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Contain local name-value pairs.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Loaded by dotenv.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Normally plaintext.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4 — Runtime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184 / 340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.env.example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Documents required names.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Contains placeholders only.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Safe to track when reviewed.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4 — Runtime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185 / 340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Precedence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Existing process values win.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.env supplies missing local values.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Required missing values cause errors.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4 — Runtime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186 / 340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Require nonempty strings.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Convert ports explicitly.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Restrict allowed modes.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4 — Runtime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187 / 340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Fail-fast startup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Reject malformed configuration early.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Do not hide errors with silent fallbacks.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Exit nonzero on failure.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4 — Runtime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188 / 340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Public projection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Allowlist approved fields.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Omit secret properties entirely.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Avoid complete environment dumps.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4 — Runtime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189 / 340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Smoke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Start the built service.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Inject isolated configuration.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Poll health and stop the child.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4 — Runtime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190 / 340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PowerShell profiles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Store reusable functions.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Back up before editing.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Never store project credentials.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4 — Runtime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191 / 340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1. Read process environment.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2. Load .env fallback.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3. Validate and type values.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4. Create immutable configuration.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5. Expose only public fields.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4 — Runtime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192 / 340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Install dotenv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npm.cmd install dotenv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4 — Runtime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193 / 340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Inspect public config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npm.cmd run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4 — Runtime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194 / 340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Override one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$env:PORT = "3200"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try { npm.cmd run config }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finally { Remove-Item Env:PORT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4 — Runtime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195 / 340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Reload the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. $PROFILE.CurrentUserCurrentHost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4 — Runtime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196 / 340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Ignore .env in Git.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Rotate any committed secret.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Do not store APP_SECRET in $PROFILE.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4 — Runtime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197 / 340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Reject an invalid port.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Verify .env is ignored.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Prove public output omits the secret.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4 — Runtime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198 / 340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Local and production values resolve correctly.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Invalid values fail.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The profile contains no project secret.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4 — Runtime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199 / 340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Module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Configuration is external input.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Validation creates trusted application values.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Profiles improve convenience without storing secrets.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4 — Runtime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200 / 340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6527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Aptos Display"/>
              </a:rPr>
              <a:t>Part 5 — Compressed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286000"/>
            <a:ext cx="10149840" cy="182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ptos"/>
              </a:rPr>
              <a:t>The complete series as a practical operational quickstart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5 — Compressed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201 / 340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 working developer needs a concise daily reference.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The quickstart reinforces relationships across phases.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Compressed verification detects environmental drift.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5 — Compressed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202 / 340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Operate the complete workflow from memory.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Identify the smallest reliable command set.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Verify the system without repeating every lesson.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5 — Compressed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203 / 340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Toolchain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Verify PowerShell.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Verify Node.js and npm.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Verify Python and Git as needed.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5 — Compressed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204 / 340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Construct paths from $HOME.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Enter the project.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Confirm current location.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5 — Compressed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205 / 340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Inspection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List project resources.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Check generated output.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Read manifests as structured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5 — Compressed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206 / 340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File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Use a disposable laboratory.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Preview deletions.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Verify cleanup.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5 — Compressed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207 / 340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Node.js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npm ci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npm run check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npm run dev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5 — Compressed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208 / 340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Display public values.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Apply temporary overrides.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Remove temporary variables.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5 — Compressed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209 / 340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Production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Build the service.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Run smoke tests.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Confirm production mode.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5 — Compressed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210 / 340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Profile shortcuts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Navigate quickly.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Run quality checks.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Avoid hidden project state.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5 — Compressed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211 / 340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1. Enter the project.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2. Install locked dependencies.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3. Run the quality gate.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4. Inspect public configuration.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5. Start development mode.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5 — Compressed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212 / 340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Daily Node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devservice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npm.cmd ci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npm.cmd run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5 — Compressed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213 / 340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Start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npm.cmd run dev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5 — Compressed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214 / 340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Inspect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npm.cmd run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5 — Compressed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215 / 340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Production smoke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&amp; .\scripts\Test-ProductionService.ps1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5 — Compressed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216 / 340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Do not let compression remove verification.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Retain exact paths and cleanup.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Keep secrets out of convenience commands.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5 — Compressed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217 / 340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Run the compressed health check.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Explain every command.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Identify which layers each command exercises.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5 — Compressed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218 / 340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The workflow succeeds from a clean terminal.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No temporary secret remains.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The built service becomes healthy.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5 — Compressed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219 / 340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Module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 short workflow can remain rigorous.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Automation preserves repeatability.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Understanding remains more important than memorization.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5 — Compressed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220 / 340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6527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Aptos Display"/>
              </a:rPr>
              <a:t>Part 6 — Python 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286000"/>
            <a:ext cx="10149840" cy="182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ptos"/>
              </a:rPr>
              <a:t>Interpreter discovery, pip, and virtual environments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221 / 340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Python installations can coexist on Windows.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Package commands must target the intended interpreter.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Projects require isolated dependency environments.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222 / 340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Discover and select Python safely.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Create and operate a virtual environment.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Use interpreter-bound pip commands.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223 / 340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The Python launcher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py discovers installed Python versions.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py -3 selects Python 3.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py --list shows available runtimes.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224 / 340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The python command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Runs one resolved interpreter.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Resolution depends on PATH.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Inspect sys.executable.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225 / 340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pip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Installs Python packages.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 bare pip can be ambiguous.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Prefer python -m pip.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226 / 340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Virtual environments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Provide project-local package isolation.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Stored under .venv.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Generated and not committed.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227 / 340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Activation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Prepends .venv\Scripts to PATH.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Sets VIRTUAL_ENV.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Is convenient but optional.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228 / 340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Explicit interpreter paths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Useful in automation.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Avoid dependency on activation state.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Point directly to python.exe.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229 / 340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Execution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Activate.ps1 may be blocked.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Direct interpreter calls still work.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Avoid global policy weakening.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230 / 340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Development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pip installs build and Ruff.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Tools belong in the project environment.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Versions should be recorded or constrained.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231 / 340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1. Discover Python.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2. Select a supported version.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3. Create .venv.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4. Activate or call directly.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5. Install project tools.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232 / 340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Discover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py --list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py -3 --version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233 / 340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Create .venv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py -3 -m venv .venv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234 / 340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Activate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.\.venv\Scripts\Activate.ps1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235 / 340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Install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python -m pip install `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    --upgrade pip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python -m pip install build ruff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236 / 340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Do not install project tools globally by default.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Verify the interpreter before package installation.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Do not commit .venv.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237 / 340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Compare py and python.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Inspect sys.executable.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Deactivate and reactivate the environment.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238 / 340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The active interpreter is inside .venv.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pip belongs to the active interpreter.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Activation is understood rather than required blindly.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239 / 340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Module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Interpreter selection controls package context.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Virtual environments isolate projects.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python -m pip reduces ambiguity.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240 / 340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6527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Aptos Display"/>
              </a:rPr>
              <a:t>Part 6 — Python Project 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286000"/>
            <a:ext cx="10149840" cy="182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ptos"/>
              </a:rPr>
              <a:t>pyproject.toml, src layout, modules, and console entry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Project Packaging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241 / 340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 CLI should be installable and reproducible.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Packaging metadata defines the project interface.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The src layout catches accidental imports.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Project Packaging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242 / 340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Create a modern Python project structure.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Define an installable console command.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Build source and wheel distributions.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Project Packaging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243 / 340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pyproject.toml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Central project metadata.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Declares the build backend.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Configures development tools.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Project Packaging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244 / 340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The src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Packages live under src.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Tests use the installed package.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Reduces accidental local imports.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Project Packaging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245 / 340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Modules and packages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 module is one Python file.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 package groups modules.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__init__.py initializes the package.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Project Packaging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246 / 340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__main__.py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Supports python -m devtasks.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Calls the CLI entry point.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Offers a wrapper-independent execution path.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Project Packaging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247 / 340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Console scripts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Defined under project.scripts.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Map a command to module:function.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Installed into .venv\Scripts.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Project Packaging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248 / 340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Editable installation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Connects the environment to source.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Useful during development.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Can hide packaging omissions.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Project Packaging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249 / 340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Wheel distributions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Built installation artifacts.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ZIP-based format.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Should be tested in a clean environment.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Project Packaging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250 / 340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Source distributions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Contain source and metadata.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May require building during installation.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Complement the wheel artifact.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Project Packaging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251 / 340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1. Create the src package.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2. Declare metadata.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3. Install editable.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4. Develop and test.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5. Build and inspect artifacts.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Project Packaging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252 / 340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Editable install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python -m pip install --editable 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Project Packaging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253 / 340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Inspect installation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python -m pip show devtasks-cli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Project Packaging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254 / 340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Build distributions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python -m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Project Packaging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255 / 340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Inspect artifacts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Get-ChildItem `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    -LiteralPath .\dist `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    -File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Project Packaging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256 / 340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Review packaged files before publishing.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Do not upload tutorial packages accidentally.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Keep generated artifacts out of source edits.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Project Packaging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257 / 340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Validate pyproject.toml with tomllib.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Run the installed devtasks command.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Inspect wheel contents.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Project Packaging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258 / 340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The console command resolves inside .venv.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The wheel contains every required module.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 clean environment can install the wheel.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Project Packaging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259 / 340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Module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Packaging is part of application design.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Editable installs support development.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Wheel tests verify the real artifact.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Project Packaging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260 / 340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6527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Aptos Display"/>
              </a:rPr>
              <a:t>Part 6 — Python CLI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286000"/>
            <a:ext cx="10149840" cy="182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ptos"/>
              </a:rPr>
              <a:t>argparse, models, JSON storage, validation, and exit codes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CLI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261 / 340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 reliable CLI separates parsing, data, and storage.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Stored JSON remains untrusted input.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Automation requires predictable output and exit codes.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CLI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262 / 340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Build an argparse command tree.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Persist validated task data atomically.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Return machine-readable output and status.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CLI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263 / 340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Command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add creates a task.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list displays tasks.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complete and remove modify state.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CLI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264 / 340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argparse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Provides help and usage.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Supports subcommands and choices.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Reports syntax failures with exit code 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CLI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265 / 340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Task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Uses a dataclass.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Validates IDs and titles.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Records UTC timestamps.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CLI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266 / 340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Storage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The document includes schema_version.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Tasks are validated on load.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Duplicate IDs are rejected.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CLI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267 / 340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Atomic replacement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Write a temporary file.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Flush and close it.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Replace the destination.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CLI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268 / 340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Runtime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Stored outside the repository.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Defaults to $HOME\.devtasks.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Can be overridden temporarily.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CLI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269 / 340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JSON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Supports PowerShell automation.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Uses stable field names.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Separates data from display text.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CLI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270 / 340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Exit codes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0 means success.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1 means storage or runtime failure.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2 means input or requested-item error.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CLI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271 / 340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1. Parse arguments.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2. Load and validate data.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3. Perform one operation.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4. Save atomically when needed.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5. Return output and an exit code.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CLI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272 / 340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Add and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devtasks add "Write documentation"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devtasks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CLI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273 / 340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devtasks complete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CLI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274 / 340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JSON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devtasks list --json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CLI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275 / 340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Temporary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$env:DEVTASKS_DATA_DIR = "$env:TEMP\devtasks-demo"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CLI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276 / 340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Validate decoded JSON.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Keep runtime data outside package source.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Restore temporary environment values.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CLI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277 / 340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Add three tasks.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Complete one and filter the list.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Parse JSON output in PowerShell.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CLI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278 / 340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Task operations return expected exit codes.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Malformed storage fails safely.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The default user database remains untouched during tests.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CLI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279 / 340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Module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 CLI is a process interface.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Models and storage enforce boundaries.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JSON plus exit codes support automation.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CLI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280 / 340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6527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Aptos Display"/>
              </a:rPr>
              <a:t>Part 6 — Python Quality and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286000"/>
            <a:ext cx="10149840" cy="182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ptos"/>
              </a:rPr>
              <a:t>Ruff, unittest, compileall, builds, and smoke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Quality and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281 / 340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Different checks detect different failure classes.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Tests should not modify real user data.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Built artifacts require independent verification.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Quality and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282 / 340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Run a complete Python quality gate.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Write isolated unit tests.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Smoke-test the installed console command.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Quality and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283 / 340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Formatting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Ruff format controls layout.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Check mode makes no changes.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Formatting is not behavioral testing.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Quality and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284 / 340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Linting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Ruff check detects suspicious patterns.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Automatic fixes require review.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Rerun tests after fixes.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Quality and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285 / 340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Compilation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compileall catches syntax errors.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Creates __pycache__.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Does not prove correct behavior.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Quality and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286 / 340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unittest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Uses test cases and assertions.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Discovery locates test modules.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Nonzero status reports failure.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Quality and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287 / 340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TemporaryDirectory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Provides isolated filesystem state.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Removes data after the test.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Protects the real task database.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Quality and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288 / 340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Output capture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Tests capture stdout and stderr.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Assertions verify messages.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Exit codes remain separately testable.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Quality and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289 / 340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Quality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Format check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Lint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Compile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Test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Quality and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290 / 340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Smoke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Runs the real installed wrapper.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Uses isolated runtime data.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Verifies end-to-end behavior.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Quality and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291 / 340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1. Check formatting.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2. Lint.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3. Compile.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4. Run tests.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5. Build.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6. Smoke-test the installed command.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Quality and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292 / 340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Format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python -m ruff format --check 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Quality and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293 / 340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Lint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python -m ruff check 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Quality and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294 / 340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Unit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python -m unittest `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    discover -s tests -v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Quality and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295 / 340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Quality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&amp; .\scripts\Invoke-PythonQualityGate.ps1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Quality and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296 / 340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Do not test against real user data.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Clean temporary processes and directories.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Verify the wheel, not only editable source.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Quality and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297 / 340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Introduce and repair one lint error.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Run all 19 tests.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Install the wheel in a clean environment.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Quality and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298 / 340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Formatting and linting pass.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All tests pass.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The built console command works.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Quality and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299 / 340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Module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Quality is layered.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Tests need isolation.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Artifact verification closes the packaging loop.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Part 6 — Python Quality and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300 / 340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6527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Aptos Display"/>
              </a:rPr>
              <a:t>Assessment and Workbook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286000"/>
            <a:ext cx="10149840" cy="182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ptos"/>
              </a:rPr>
              <a:t>Knowledge checks, practical evidence, and capstone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Assessment and Workbook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301 / 340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Operational skills require more than recognition questions.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Safety performance must be observed directly.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Reflection converts commands into transferable judgment.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Assessment and Workbook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302 / 340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Use quizzes for knowledge checks.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Use labs for performance assessment.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Apply safety-critical completion criteria.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Assessment and Workbook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303 / 340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Formative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Prediction questions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Command decomposition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Guided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Assessment and Workbook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304 / 340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Knowledge quizzes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PowerShell syntax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Filesystem safety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Node.js and npm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Configuration and secrets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Assessment and Workbook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305 / 340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Practical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Create and inspect resources.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Copy and hash-verify.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Preview and verify deletion.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Assessment and Workbook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306 / 340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Capstone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Reproduce dependencies.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Run quality gates.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Start and call services.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Assessment and Workbook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307 / 340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Workbook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Predictions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Command results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Troubleshooting records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Reflections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Assessment and Workbook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308 / 340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Oral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Explain target selection.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Explain precedence.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Explain secret protection.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Assessment and Workbook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309 / 340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Safety triggers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No broad deletion outside laboratories.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No secret disclosure.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No unauthorized policy weakening.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Assessment and Workbook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310 / 340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Completion 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Knowledge threshold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Practical threshold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All safety criteria passed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Assessment and Workbook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311 / 340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1. Teach.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2. Practice.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3. Check understanding.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4. Observe performance.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5. Remediate.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6. Reassess.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Assessment and Workbook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312 / 340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PowerShell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Get-Command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Get-Help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Get-Member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Assessment and Workbook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313 / 340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Node quality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npm.cmd ci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npm.cmd run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Assessment and Workbook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314 / 340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Python quality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&amp; .\scripts\Invoke-PythonQualityGate.ps1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Assessment and Workbook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315 / 340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Final smoke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&amp; .\scripts\Test-ProductionService.ps1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&amp; .\scripts\Test-PythonCli.ps1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Assessment and Workbook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316 / 340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Do not average away safety failures.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Use disposable assessment roots.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Require explanation of every destructive command.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Assessment and Workbook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317 / 340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Complete one closed-book quiz.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Perform the practical lab.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Defend three architecture decisions orally.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Assessment and Workbook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318 / 340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Knowledge score meets the threshold.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Practical work is independently repeatable.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Every safety-critical criterion passes.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Assessment and Workbook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319 / 340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Module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Assessment should measure judgment.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Evidence matters more than command memorization.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Safety is a mandatory competency.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Assessment and Workbook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320 / 340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6527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Aptos Display"/>
              </a:rPr>
              <a:t>Resources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286000"/>
            <a:ext cx="10149840" cy="182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ptos"/>
              </a:rPr>
              <a:t>Primary sources, deeper study, and continued engineering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Resources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321 / 340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Why this module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Software behavior changes across versions.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Primary documentation is the most reliable authority.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The series is a foundation, not an endpoint.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Resources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322 / 340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Find authoritative documentation.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Evaluate technical sources critically.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Choose a productive next learning path.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Resources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323 / 340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PowerShell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Microsoft Learn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about topics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Cmdlet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Resources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324 / 340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Node.js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Node.js API documentation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Release schedule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Security announcements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Resources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325 / 340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JavaScript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MDN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ECMAScript specification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TC39 proposals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Resources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326 / 340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Package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npm documentation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pnpm documentation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Package repositories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Resources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327 / 340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HTTP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MDN HTTP guides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RFC 9110 family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OpenAPI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Resources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328 / 340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Python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Python documentation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Packaging User Guide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Ruff and unittest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Resources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329 / 340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Security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OWASP cheat sheets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Managed secret services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Dependency advisories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Resources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330 / 340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Source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Check version and date.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Prefer primary sources.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Verify in a disposable environment.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Resources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331 / 340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1. Identify the installed version.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2. Read version-matched documentation.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3. Reduce the issue to a small example.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4. Test safely.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5. Record the verified result.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Resources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332 / 340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PowerShell help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Get-Help Get-ChildItem -Online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Resources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333 / 340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Node.js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node --version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npm.cmd --version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Resources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334 / 340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Python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py --list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python --version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Resources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335 / 340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Dependency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149840" cy="4434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npm.cmd outdated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npm.cmd audit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Consolas"/>
              </a:rPr>
              <a:t>python -m pip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Resources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336 / 340</a:t>
            </a: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Do not follow destructive advice without inspection.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Do not execute unknown packages blindly.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Do not paste credentials into support requests.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Resources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337 / 340</a:t>
            </a: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Bookmark ten primary references.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Verify one claim against official documentation.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Choose one extension project.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Resources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338 / 340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Version compatibility is recorded.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Primary documentation can be located.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The next learning objective is explicit.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Resources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339 / 340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52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 Display"/>
              </a:rPr>
              <a:t>Module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371600"/>
            <a:ext cx="10149840" cy="4480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Prefer primary sources.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Verify behavior for the installed version.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2000" b="0">
                <a:solidFill>
                  <a:srgbClr val="000000"/>
                </a:solidFill>
                <a:latin typeface="Aptos"/>
              </a:rPr>
              <a:t>• Continue applying the same safety and validation habits.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55664"/>
            <a:ext cx="9509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Resources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5566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ptos"/>
              </a:rPr>
              <a:t>340 / 340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 and Developer Environment Series</dc:title>
  <dc:subject>PowerShell, Node.js, runtime configuration, and Python CLI</dc:subject>
  <dc:creator>CLI Developer Environment Series</dc:creator>
  <cp:keywords>PowerShell, Node.js, npm, HTTP, Python, CLI</cp:keywords>
  <dc:description>Minimal black text on white background. No images or decorative colors.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