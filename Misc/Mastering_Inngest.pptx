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Introduction &amp; Series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Opening (3 slides)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Mastering Inngest: Building Reliable Serverless Workflows with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Subtitle: Design Resilient Event-Driven Systems Without Managing Queues, Workers, or Workflow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Hidden Complexity of Modern Applications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Applications rarely consist of a single request and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They send emails, process payments, generate reports, synchronize data, perform AI inference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Building these traditionally requires: Message queues, Cron jobs, Retry mechanisms, Distributed locks, Workflow engines, State stores, Custom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Cost of Traditional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Why Traditional Background Processing Fails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Complex queue 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Manual retry logic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Poor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Not serverless-friendly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Long-running workers &amp; polling for messages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No message history for replay/complex system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The Solution (3 slides)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What is Inngest?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Inngest — Queuing and Orchestration for Modern Software Teams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Subtitle: A developer-first platform for building event-driven background jobs and workflows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Write reliable, fault-tolerant code with ease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Run on serverless, servers, or both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No queues, workers, or additional state management required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"Inngest reimagines workflow orchestration through durable execution"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Core Concepts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Three Primitives — All You Need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Card Layout: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Events — The backbone of Inngest. Signals that something happened.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Functions — Workflows that run when events occur.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Steps — Individual units of work, independently retryable.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What Makes Inngest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Key Differentiators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Built-in retries and idempotency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Long-running workflows (minutes, hours, days)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Observability dashboard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Serverless-friendly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Step orchestration with automatic state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No infrastructure to manage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What You'll Build (2 slides)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Application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Architecture You'll Build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Frontend Layer: Next.js 16 + React 19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API Layer: Route Handlers &amp; Server Actions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Orchestration Layer: Inngest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External Services: Database, Email, Payment, Storage,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Workflows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Six Production-Ready Workflows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User Registration Pipeline (Part 1)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Invoice Generation (Part 2)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Bulk Email Campaign (Part 3)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Purchase Approval System (Part 4)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AI Content Generation Dashboard (Part 5)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Production Deployment Pipeline (Part 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0.4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Series Navigation (2 slides)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Series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Path to Mastery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1: Foundations (2 hours reading, 4 hours coding)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2: State Management (2.5h, 5h)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3: Performance (2h, 4h)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4: Long-Running (2h, 4h)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5: Full-Stack (2.5h, 5h)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6: Production (2h, 3h)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What You Need to Know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JavaScript (ES2023+) or TypeScript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Node.js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Modern React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Next.js App Router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REST APIs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Async programming (Promises, async/await)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Note: No prior experience with workflow engines or distributed systems required.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Foundations — Thinking in Events and Durable Execution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Event-Driven Architecture (4 slides)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1 — Foundations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Subtitle: Thinking in Events and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Understand the limitations of traditional background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 the principles of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your first event-driven workflow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Restaurant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Event-Driven Architecture Explained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Traditional (REST): Customer waits at counter while entire meal prepared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Event-Driven: Kitchen with expediter, grill cook, saute cook, plater working asynchronously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Events are just messages that say "something happened."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Event 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How Events Flow Through Your System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User Signs Up → Frontend Sends Event → Inngest Event API →</a:t>
            </a:r>
            <a:br/>
            <a:r>
              <a:t>Inngest Function Runner → Step 1: Send Welcome Email →</a:t>
            </a:r>
            <a:br/>
            <a:r>
              <a:t>Step 2: Create Profile → Step 3: Sync to CRM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Getting Started with Code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Commands: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pnpm create next-app@latest workflowhub --typescript --tailwind --app</a:t>
            </a:r>
            <a:br/>
            <a:r>
              <a:t>cd workflowhub</a:t>
            </a:r>
            <a:br/>
            <a:r>
              <a:t>pnpm add inngest inngest/next</a:t>
            </a:r>
            <a:br/>
            <a:r>
              <a:t>pnpm add zod uuid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Files Created: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`src/inngest/client.ts`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`src/app/api/inngest/route.ts`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First Workflow (4 slides)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Inngest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Creating the Inngest Client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src/inngest/client.ts</a:t>
            </a:r>
            <a:br/>
            <a:r>
              <a:t>import { Inngest } from 'inngest';</a:t>
            </a:r>
            <a:br/>
            <a:r>
              <a:t>export const inngest = new Inngest({</a:t>
            </a:r>
            <a:br/>
            <a:r>
              <a:t>id: 'workflowhub',</a:t>
            </a:r>
            <a:br/>
            <a:r>
              <a:t>name: 'WorkflowHub',</a:t>
            </a:r>
            <a:br/>
            <a:r>
              <a:t>eventKey: process.env.INNGEST_EVENT_KEY,</a:t>
            </a:r>
            <a:br/>
            <a:r>
              <a:t>retryFunction: (attempt) =&gt; ({</a:t>
            </a:r>
            <a:br/>
            <a:r>
              <a:t>delay: Math.min(Math.pow(2, attempt) * 1000, 60000),</a:t>
            </a:r>
            <a:br/>
            <a:r>
              <a:t>maxAttempts: 5,</a:t>
            </a:r>
            <a:br/>
            <a:r>
              <a:t>}),</a:t>
            </a:r>
            <a:br/>
            <a:r>
              <a:t>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Concepts: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`id`: Unique identifier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`eventKey`: For signing events (security)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`retryFunction`: Exponential backoff strategy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User Registration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Your First Durable Function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(Show full function with steps)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export const userRegistrationWorkflow = inngest.createFunction(</a:t>
            </a:r>
            <a:br/>
            <a:r>
              <a:t>{ id: 'user-registration-workflow' },</a:t>
            </a:r>
            <a:br/>
            <a:r>
              <a:t>{ event: 'user/registered' },</a:t>
            </a:r>
            <a:br/>
            <a:r>
              <a:t>async ({ event, step, logger }) =&gt; {</a:t>
            </a:r>
            <a:br/>
            <a:r>
              <a:t>// Step 1: Send welcome email</a:t>
            </a:r>
            <a:br/>
            <a:r>
              <a:t>const emailResult = await step.run('send-welcome-email', async () =&gt; {</a:t>
            </a:r>
            <a:br/>
            <a:r>
              <a:t>// email logic</a:t>
            </a:r>
            <a:br/>
            <a:r>
              <a:t>});</a:t>
            </a:r>
            <a:br/>
            <a:r>
              <a:t>// Step 2: Create profile</a:t>
            </a:r>
            <a:br/>
            <a:r>
              <a:t>// Step 3: Sync with CRM</a:t>
            </a:r>
            <a:br/>
            <a:r>
              <a:t>}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Anatomy of a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Breaking It Down — Three Parts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Configuration Object: id, retries, concurrency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 Definition: What event starts this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Handler Function: The actual workflow logic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Concept: `step.run()` creates a durable step — automatically retried on failure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Running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Inngest Dev Server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Commands: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# Install the CLI</a:t>
            </a:r>
            <a:br/>
            <a:r>
              <a:t>curl -sSfL https://cli.inngest.com/install.sh | sh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Run the dev server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inngest dev -u http://localhost:3000/api/inngest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**Visual:** Screenshot of Dev Server UI showing functions, runs, and events</a:t>
            </a:r>
            <a:br/>
            <a:r>
              <a:t>- **Key Features:**</a:t>
            </a:r>
            <a:br/>
            <a:r>
              <a:t>- Real-time execution dashboard</a:t>
            </a:r>
            <a:br/>
            <a:r>
              <a:t>- Step-by-step tracing</a:t>
            </a:r>
            <a:br/>
            <a:r>
              <a:t>- Retry simulation</a:t>
            </a:r>
            <a:br/>
            <a:r>
              <a:t>- Event replay</a:t>
            </a:r>
            <a:br/>
            <a:r>
              <a:t>- **Presenter Notes:** "This is where you'll spend most of your development time. It's the most powerful local development tool in the ecosystem."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Testing Your Workflow (2 slides)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Triggering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Testing Your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Methods: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From Dev Server UI: Click "Invoke" on the function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From curl: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curl -X POST http://localhost:3000/api/inngest \</a:t>
            </a:r>
            <a:br/>
            <a:r>
              <a:t>-H "Content-Type: application/json" \</a:t>
            </a:r>
            <a:br/>
            <a:r>
              <a:t>-d '{"name":"user/registered","data":{...}}'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From Code: `await inngest.send({ name: "user/registered", data: {...} })`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Monitoring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What You See in the Dev Server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Recent Events list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Run details with steps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Step-by-step execution timeline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Input/output for each step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Each step's result is memoized — if retried, returns cached result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Durable Functions, State Management &amp; Fault Tolerance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Deep Dive into Durable Execution (4 slides)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2 — Durable Functions, State Management &amp; Fault Tolerance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workflows resilient to crashes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Understand deterministic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Manage state safely across workflow steps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Autosave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Think of Durable Execution Like Autosave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No Autosave: Computer crashes, lose everything, start over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With Autosave: Computer crashes, resume exactly where you left off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After each step, Inngest "autosaves" the workflow state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Checkpointing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How Checkpointing Works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Step 1 → [SAVE] → Step 2 → [SAVE] → Step 3 → [SAVE]</a:t>
            </a:r>
            <a:br/>
            <a:r>
              <a:t>↓            ↓              ↓</a:t>
            </a:r>
            <a:br/>
            <a:r>
              <a:t>Checkpoint  Checkpoint      Checkpoint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Concepts: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"Started" entry written before step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Result saved after completion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On failure, resume from last checkpoint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Idempotency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Exactly-Once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Definition: An operation can be performed multiple times without changing the result beyond the first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❌ Non-idempotent</a:t>
            </a:r>
            <a:br/>
            <a:r>
              <a:t>await chargeCard(orderId); // Could charge twice on retry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✅ Idempotent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const result = await step.run('process-payment', async () =&gt; {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const existing = await db.payments.findUnique({ where: { orderId } 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if (existing) return existing;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const result = await chargeCard(orderId);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await db.payments.create({ data: { orderId, ...result } 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return result;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});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**Presenter Notes:** "Idempotency is how you prevent duplicate charges, emails, and side effects. Implement it in every step with side effects."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State Management (3 slides)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Passing Data Between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Data Flows Through Your Workflow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Step 1 → Returns data → Step 2 uses data → Returns more data → Step 3...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user = await step.run('get-user', async () =&gt; {</a:t>
            </a:r>
            <a:br/>
            <a:r>
              <a:t>return await db.user.findUnique({ where: { id: userId } });</a:t>
            </a:r>
            <a:br/>
            <a:r>
              <a:t>});</a:t>
            </a:r>
            <a:br/>
            <a:r>
              <a:t>const orders = await step.run('get-orders', async () =&gt; {</a:t>
            </a:r>
            <a:br/>
            <a:r>
              <a:t>return await db.order.findMany({ where: { userId: user.id } });</a:t>
            </a:r>
            <a:br/>
            <a:r>
              <a:t>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Data returned from one step is available in all subsequent steps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Invoice Generation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Invoice Generation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Calculate totals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Generate PDF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Format email content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invoice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Store record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step sequence with state flowing between them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Concept: Each step builds on the previous step's results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State Minimalism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Don't Store Everything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❌ Anti-Pattern: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fullUser = await step.run('get-user', async () =&gt; {</a:t>
            </a:r>
            <a:br/>
            <a:r>
              <a:t>return await db.user.findUnique({</a:t>
            </a:r>
            <a:br/>
            <a:r>
              <a:t>include: { orders: true, profile: true, history: true }</a:t>
            </a:r>
            <a:br/>
            <a:r>
              <a:t>});</a:t>
            </a:r>
            <a:br/>
            <a:r>
              <a:t>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Best Practice: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user = await step.run('get-user', async () =&gt; {</a:t>
            </a:r>
            <a:br/>
            <a:r>
              <a:t>return await db.user.findUnique({</a:t>
            </a:r>
            <a:br/>
            <a:r>
              <a:t>select: { id: true, email: true, name: true }</a:t>
            </a:r>
            <a:br/>
            <a:r>
              <a:t>});</a:t>
            </a:r>
            <a:br/>
            <a:r>
              <a:t>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Large state objects slow execution and increase memory usage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Error Handling (3 slides)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Automatic Retry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Built-in Retry with Exponential Backoff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Configuration: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retryFunction: (attempt: number) =&gt; ({</a:t>
            </a:r>
            <a:br/>
            <a:r>
              <a:t>delay: Math.min(Math.pow(2, attempt) * 1000, 60000),</a:t>
            </a:r>
            <a:br/>
            <a:r>
              <a:t>maxAttempts: 5,</a:t>
            </a:r>
            <a:br/>
            <a:r>
              <a:t>})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Only the failed step retries, not the entire workflow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Compensating Actions (Saga Pattern)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Undoing Partial Work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Definition: When a later step fails, earlier steps may need to be undone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try {</a:t>
            </a:r>
            <a:br/>
            <a:r>
              <a:t>state.flight = await step.run('reserve-flight', () =&gt; airline.reserve());</a:t>
            </a:r>
            <a:br/>
            <a:r>
              <a:t>state.hotel = await step.run('reserve-hotel', () =&gt; hotel.reserve());</a:t>
            </a:r>
            <a:br/>
            <a:r>
              <a:t>state.car = await step.run('reserve-car', () =&gt; carRental.reserve());</a:t>
            </a:r>
            <a:br/>
            <a:r>
              <a:t>} catch (error) {</a:t>
            </a:r>
            <a:br/>
            <a:r>
              <a:t>// Compensate in reverse order</a:t>
            </a:r>
            <a:br/>
            <a:r>
              <a:t>if (state.car) await step.run('cancel-car', () =&gt; carRental.cancel());</a:t>
            </a:r>
            <a:br/>
            <a:r>
              <a:t>if (state.hotel) await step.run('cancel-hotel', () =&gt; hotel.cancel());</a:t>
            </a:r>
            <a:br/>
            <a:r>
              <a:t>if (state.flight) await step.run('cancel-flight', () =&gt; airline.cancel());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Error Handling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Four Error Handling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Card Layout: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Graceful Degradation: Continue with reduced capability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Retry with Backoff: Exponential delay between attempts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Dead Letter Queue: Store failed messages for later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Fallback with Cached Response: Use stale data when service is down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Time-Based Orchestration (2 slides)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step.sleep() and step.sleepUntil()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Pause Your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Sleep for a duration</a:t>
            </a:r>
            <a:br/>
            <a:r>
              <a:t>await step.sleep('wait-5-seconds', 5000);</a:t>
            </a:r>
            <a:br/>
            <a:r>
              <a:t>await step.sleep('wait-1-minute', '1m');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Sleep until a specific 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await step.sleepUntil('wait-for-new-year', new Date('2024-12-31T23:59:59'));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Calculated wait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const waitTime = scheduledDate.getTime() - Date.now();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await step.sleep('wait-for-schedule', waitTime);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**Key Insight:** During sleep, workflow state is saved. If server restarts, resumes from sleep.</a:t>
            </a:r>
            <a:br/>
            <a:r>
              <a:t>- **Presenter Notes:** "Sleep is durable. Not like setTimeout."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Scheduled Reminder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Reminder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Reminder scheduled with `scheduledFor` 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Sleep until that 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reminder email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If recurrence, schedule next reminder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the complete reminder workflow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High-Performance Workflow Patterns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Fan-Out / Fan-In (3 slides)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3 — High-Performance Workflow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Execute thousands of jobs safely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Optimize concurrency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resilient event pipelines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Fan-Out/Fan-In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Parallel Processing Made Simple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Fan-Out: Single workflow splits into many parallel operations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Parallel Execution: All operations run simultaneously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Fan-In: Results aggregated back into single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Analogy: Restaurant kitchen — head chef assigns dishes to different cooks, collects finished dishes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Bulk Email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Bulk Email Sender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BATCH_SIZE = 50;</a:t>
            </a:r>
            <a:br/>
            <a:r>
              <a:t>for (let i = 0; i &lt; recipients.length; i += BATCH_SIZE) {</a:t>
            </a:r>
            <a:br/>
            <a:r>
              <a:t>const batch = recipients.slice(i, i + BATCH_SIZE);</a:t>
            </a:r>
            <a:br/>
            <a:r>
              <a:t>const batchResults = await step.run(`process-batch-${i}`, async () =&gt; {</a:t>
            </a:r>
            <a:br/>
            <a:r>
              <a:t>const emailPromises = batch.map(recipient =&gt; sendEmail(recipient));</a:t>
            </a:r>
            <a:br/>
            <a:r>
              <a:t>return await Promise.all(emailPromises);</a:t>
            </a:r>
            <a:br/>
            <a:r>
              <a:t>});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Process 50 recipients at a 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Each batch processes in parallel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Results aggregated for reporting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Concurrency Management (3 slides)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Crowd Control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Concurrency Is Like Crowd Control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Global Limits: "Only 100 people inside at a time"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Per-User Limits: "Each person can reserve 5 tickets"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Per-Resource Limits: "Only 10 people can use the VIP lounge"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Concurrency limits protect downstream systems from overload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Configuring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Concurrency in Code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Function-level concurrency</a:t>
            </a:r>
            <a:br/>
            <a:r>
              <a:t>concurrency: {</a:t>
            </a:r>
            <a:br/>
            <a:r>
              <a:t>limit: 10,</a:t>
            </a:r>
            <a:br/>
            <a:r>
              <a:t>scope: 'fn',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Key-based concurrency (per tenant/user)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concurrency: {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limit: 5,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scope: 'key',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key: 'data.tenantId',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Global concurrency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concurrency: {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limit: 100,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scope: 'global',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**Key Insight:** Scopes can be at multiple levels</a:t>
            </a:r>
            <a:br/>
            <a:r>
              <a:t>- **Presenter Notes:** "One line of code controls concurrency. No more building your own queue."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Multi-Tenant Task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Task Scheduler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Tenant-specific concurrency limits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Priority-based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Global limits as safety net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configuration with tenant-specific limits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Rate Limiting and Throttling (2 slides)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Protecting External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Rate Limiting and Throttling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Rate Limiting: "Only 100 requests per minute"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Throttling: "Wait 1 second between requests"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Debouncing: "Only let the last request through"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Batching: "Process 10 at a time, then wait"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rateLimit: {</a:t>
            </a:r>
            <a:br/>
            <a:r>
              <a:t>limit: 100,</a:t>
            </a:r>
            <a:br/>
            <a:r>
              <a:t>period: '1m',</a:t>
            </a:r>
            <a:br/>
            <a:r>
              <a:t>key: 'data.userId',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Image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Image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Throttling between images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Priority-based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Rate limit tracking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Debouncing and Batching (2 slides)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Grouping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Debouncing and Batching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Debouncing: "Wait 5 seconds after the last request before processing"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Batching: "Collect all requests from last 5 minutes and process together"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Debounce</a:t>
            </a:r>
            <a:br/>
            <a:r>
              <a:t>debounce: {</a:t>
            </a:r>
            <a:br/>
            <a:r>
              <a:t>key: 'data.userId',</a:t>
            </a:r>
            <a:br/>
            <a:r>
              <a:t>period: '30s',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Batch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batch: {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maxSize: 100,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timeout: '60s',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key: 'data.userId',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**Presenter Notes:** "These patterns are essential for event aggregation and API optimization."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Event Aggregator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Event Aggregator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Debounced user actions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Digest generation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Notification batching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Long-Running Workflows &amp; Human-in-the-Loop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Long-Running Workflow Architecture (3 slides)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4 — Long-Running Workflows &amp; Human-in-the-Loop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workflows that pause and resume safely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Coordinate approvals and asynchronous callbacks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 business process orchestration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Wedding Planning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Think of Long-Running Workflows Like Planning a Wedding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Book venue → Wait for confirmation (days)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Hire caterer → Wait for contract (weeks)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invitations → Wait for RSVPs (months)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Coordinate vendors → Wait for confirmations (day of)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Execute the wedding → All pieces come together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Each step involves waiting. The workflow survives for months.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Three Waiting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How to Pause Your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Card Layout: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step.sleep(): Pause for a duration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step.sleepUntil(): Pause until a specific 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step.waitForEvent(): Pause and wait for an external event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All are durable — survive server restarts and deployments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The Saga Pattern (2 slides)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Distributed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Saga Pattern — Coordinating Multiple Services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Definition: A pattern for managing distributed transactions using local transactions with compensating actions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Reserve Flight → Reserve Hotel → Reserve Car → Confirm All</a:t>
            </a:r>
            <a:br/>
            <a:r>
              <a:t>↓              ↓              ↓</a:t>
            </a:r>
            <a:br/>
            <a:r>
              <a:t>Compensate Hotel  Compensate Car  Compensate Flight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Customer Onboarding Saga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Customer Onboarding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CRM account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billing account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welcome email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Provision resources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user account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onboarding survey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Compensation: If any step fails, undo previous steps in reverse order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compensation queue implementation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Human-in-the-Loop (3 slides)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Waiting for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step.waitForEvent() — Wait for Human Decisions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try {</a:t>
            </a:r>
            <a:br/>
            <a:r>
              <a:t>const decision = await step.waitForEvent('wait-for-approval', {</a:t>
            </a:r>
            <a:br/>
            <a:r>
              <a:t>event: 'purchase/approved',</a:t>
            </a:r>
            <a:br/>
            <a:r>
              <a:t>timeout: '24h',</a:t>
            </a:r>
            <a:br/>
            <a:r>
              <a:t>match: (data) =&gt; data.purchaseId === purchaseId,</a:t>
            </a:r>
            <a:br/>
            <a:r>
              <a:t>});</a:t>
            </a:r>
            <a:br/>
            <a:r>
              <a:t>if (decision.data.approved) {</a:t>
            </a:r>
            <a:br/>
            <a:r>
              <a:t>await executePurchase();</a:t>
            </a:r>
            <a:br/>
            <a:r>
              <a:t>}</a:t>
            </a:r>
            <a:br/>
            <a:r>
              <a:t>} catch {</a:t>
            </a:r>
            <a:br/>
            <a:r>
              <a:t>// Timeout - handle accordingly</a:t>
            </a:r>
            <a:br/>
            <a:r>
              <a:t>await handleTimeout();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Workflow pauses, waiting for human input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Purchase Approval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Purchase Approval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Multi-level approvals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Timeout handling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Escalation for critical requests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Auto-approval for high urgency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Multi-Level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Complex Approval Chains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Sequential approval levels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Different timeouts per level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Escalation on timeout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Emergency auto-approval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Versioning and Safe Deployments (2 slides)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Airplane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Versioning Is Like Updating Airplane Software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Planes in flight (running workflows): Continue with current version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New flights (new workflows): Use updated version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Flight plan updates (workflow changes): Applied to new executions only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Running workflows are never interrupted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Subscription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Subscription Lifecycle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Versioned workflow (v1.0.0, v2.0.0)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Different behavior per version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Safe deployment strategy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version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{</a:t>
            </a:r>
            <a:br/>
            <a:r>
              <a:t>id: 'subscription-lifecycle-workflow',</a:t>
            </a:r>
            <a:br/>
            <a:r>
              <a:t>version: '2.0.0',</a:t>
            </a:r>
            <a:br/>
            <a:r>
              <a:t>retries: 3,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Modern Full-Stack Integration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Next.js App Router Integration (3 slides)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5 — Full-Stack Integration with React 19 &amp; Next.js 16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 workflows from the UI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Provide instant feedback for asynchronous operations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Connect frontend state with backend execution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Full-Stack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How Everything Fits Together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Frontend: React 19 Components (useActionState, useOptimistic, useSSE)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API Layer: Next.js Routes + Server Actions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Orchestration Layer: Inngest Durable Workflows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Server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Triggering Workflows from UI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// Server Action</a:t>
            </a:r>
            <a:br/>
            <a:r>
              <a:t>'use server';</a:t>
            </a:r>
            <a:br/>
            <a:r>
              <a:t>export async function createOrder(formData: FormData) {</a:t>
            </a:r>
            <a:br/>
            <a:r>
              <a:t>const validated = schema.parse(formData);</a:t>
            </a:r>
            <a:br/>
            <a:r>
              <a:t>const result = await inngest.send({</a:t>
            </a:r>
            <a:br/>
            <a:r>
              <a:t>name: 'order/placed',</a:t>
            </a:r>
            <a:br/>
            <a:r>
              <a:t>data: validated,</a:t>
            </a:r>
            <a:br/>
            <a:r>
              <a:t>});</a:t>
            </a:r>
            <a:br/>
            <a:r>
              <a:t>return { success: true, runId: result.ids?.[0] };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// React Component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const [state, formAction, isPending] = useActionState(createOrder, initialState);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- **Key Insight:** Server Actions are type-safe, server-side logic called from client components</a:t>
            </a:r>
            <a:br/>
            <a:r>
              <a:t>- **Presenter Notes:** "This is the simplest way to trigger workflows from your UI."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React 19 Action APIs (3 slides)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useActionState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useActionState — Form State Made Easy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initialState = { success: false, error: null };</a:t>
            </a:r>
            <a:br/>
            <a:r>
              <a:t>const [state, formAction, isPending] = useActionState(</a:t>
            </a:r>
            <a:br/>
            <a:r>
              <a:t>createOrder,</a:t>
            </a:r>
            <a:br/>
            <a:r>
              <a:t>initialState</a:t>
            </a:r>
            <a:br/>
            <a:r>
              <a:t>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Automatic pending state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Type-safe state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Works with Server Actions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useOptimistic — Immediate UI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Optimistic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Definition: Show changes immediately, while server processes in background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[optimisticContent, addOptimisticContent] = useOptimistic(</a:t>
            </a:r>
            <a:br/>
            <a:r>
              <a:t>content,</a:t>
            </a:r>
            <a:br/>
            <a:r>
              <a:t>(state, newContent) =&gt; newContent</a:t>
            </a:r>
            <a:br/>
            <a:r>
              <a:t>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Creates responsive, snappy user experiences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AI Content Generation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Real-World Example — AI Content Generator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Immediate optimistic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Workflow status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Real-time progress display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Real-Time Updates (3 slides)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Server-Sent Events (SSE)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Streaming Status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Definition: Lightweight way to push real-time updates from server to client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 (Server):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stream = new ReadableStream({</a:t>
            </a:r>
            <a:br/>
            <a:r>
              <a:t>start(controller) {</a:t>
            </a:r>
            <a:br/>
            <a:r>
              <a:t>const sendUpdate = async () =&gt; {</a:t>
            </a:r>
            <a:br/>
            <a:r>
              <a:t>const status = await getWorkflowStatus(runId);</a:t>
            </a:r>
            <a:br/>
            <a:r>
              <a:t>controller.enqueue(`data: ${JSON.stringify(status)}\n\n`);</a:t>
            </a:r>
            <a:br/>
            <a:r>
              <a:t>if (status.status === 'completed') controller.close();</a:t>
            </a:r>
            <a:br/>
            <a:r>
              <a:t>else setTimeout(sendUpdate, 2000);</a:t>
            </a:r>
            <a:br/>
            <a:r>
              <a:t>};</a:t>
            </a:r>
            <a:br/>
            <a:r>
              <a:t>sendUpdate();</a:t>
            </a:r>
            <a:br/>
            <a:r>
              <a:t>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useSSE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Consuming SSE in React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const { isConnected, lastMessage } = useSSE(</a:t>
            </a:r>
            <a:br/>
            <a:r>
              <a:t>`/api/workflows/status/stream?runId=${runId}`,</a:t>
            </a:r>
            <a:br/>
            <a:r>
              <a:t>{</a:t>
            </a:r>
            <a:br/>
            <a:r>
              <a:t>onMessage: (data) =&gt; setStatus(data),</a:t>
            </a:r>
            <a:br/>
            <a:r>
              <a:t>onError: () =&gt; console.error('Connection lost'),</a:t>
            </a:r>
            <a:br/>
            <a:r>
              <a:t>}</a:t>
            </a:r>
            <a:br/>
            <a:r>
              <a:t>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Auto-reconnect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Message parsing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Connection status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Workflow Status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Displaying Workflow Status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Real-time status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Step-by-step progress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Visual indicators (running, completed, failed)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Cancellation support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Production Deployment &amp; Observability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Production Configuration (3 slides)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Part 6 — Production Deployment, Observability &amp; Operations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Secure production deployments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Monitor workflow health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Debug distributed executions efficiently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Environment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Production Environment Variables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.env.production: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INNGEST_EVENT_KEY="ev_prod_xxxxxxxxxxxxxxxx"</a:t>
            </a:r>
            <a:br/>
            <a:r>
              <a:t>INNGEST_SIGNING_KEY="sign_prod_xxxxxxxxxxxxxxxx"</a:t>
            </a:r>
            <a:br/>
            <a:r>
              <a:t>NEXT_PUBLIC_APP_URL="https://your-app.com"</a:t>
            </a:r>
            <a:br/>
            <a:r>
              <a:t>DATABASE_URL="postgresql://user:pass@host:5432/database"</a:t>
            </a:r>
            <a:br/>
            <a:r>
              <a:t>JWT_SECRET="xxxxxxxxxxxxxxxxxxxxxxxxxxxxxxxx"</a:t>
            </a:r>
            <a:br/>
            <a:r>
              <a:t>ENCRYPTION_KEY="xxxxxxxxxxxxxxxxxxxxxxxxxxxxxxxx"</a:t>
            </a:r>
            <a:br/>
            <a:r>
              <a:t>LOG_LEVEL="info"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Security: Never commit these to version control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Production-Ready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Production Inngest Client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Sentry middleware for error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Metrics middleware for performance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Production retry strategy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Production logging (info, warn, error only)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enhanced client with middleware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Deployment Strategies (4 slides)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Vercel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Deploy to Vercel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Configuration: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{</a:t>
            </a:r>
            <a:br/>
            <a:r>
              <a:t>"functions": {</a:t>
            </a:r>
            <a:br/>
            <a:r>
              <a:t>"api/inngest/**/*.ts": {</a:t>
            </a:r>
            <a:br/>
            <a:r>
              <a:t>"maxDuration": 60,</a:t>
            </a:r>
            <a:br/>
            <a:r>
              <a:t>"memory": 1024</a:t>
            </a:r>
            <a:br/>
            <a:r>
              <a:t>}</a:t>
            </a:r>
            <a:br/>
            <a:r>
              <a:t>}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Command: `vercel --prod`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 Automatic scaling, zero configuration, CDN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AWS Lambda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Deploy to AWS Lambda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Configuration: `serverless.yml` with functions and environment variables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Command: `serverless deploy`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 Enterprise-grade, fine-grained control, VPC support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Docker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Deploy with Docker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Dockerfile: Multi-stage build for optimization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Docker Compose: Postgres, Redis, Nginx, App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Commands: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docker build -t workflowhub .</a:t>
            </a:r>
            <a:br/>
            <a:r>
              <a:t>docker-compose -f docker-compose.prod.yml up -d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 Any environment, complete control, portable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Automate Everything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GitHub Actions Workflow: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Test → Build → Deploy to Staging → Smoke Tests → Deploy to Production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 Automated testing, staging environment, production deployment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Monitoring and Observability (4 slides)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Mission Control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Observability Is Like Mission Control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Logs: Raw telemetry data (everything that happened)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Metrics: Dashboard gauges (how fast, how many)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Traces: Flight path (exactly what happened when)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Alerts: Alarms (when something goes wrong)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You need all four to understand your system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Structured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Logging That Tells a Story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logger.info('Processing order', {</a:t>
            </a:r>
            <a:br/>
            <a:r>
              <a:t>orderId: event.data.orderId,</a:t>
            </a:r>
            <a:br/>
            <a:r>
              <a:t>amount: event.data.amount,</a:t>
            </a:r>
            <a:br/>
            <a:r>
              <a:t>customerId: event.data.customerId,</a:t>
            </a:r>
            <a:br/>
            <a:r>
              <a:t>attempt: attempt,</a:t>
            </a:r>
            <a:br/>
            <a:r>
              <a:t>duration: Date.now() - startTime,</a:t>
            </a:r>
            <a:br/>
            <a:r>
              <a:t>});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 Context, levels, structured data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Metrics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Tracking Performance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Metrics to Collect: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Workflow duration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 duration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Success/failure rates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Error rates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Throughput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metrics middleware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Metrics tell you how your system is performing over time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Monitoring System Health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Endpoint: `GET /api/health`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Checks: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Database connectivity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Inngest connectivity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Redis connectivity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Overall system status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Response: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{ "status": "healthy", "timestamp": "...", "services": { ... } }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Production Checklist (1 slide)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Production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Before You Go Live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Categories: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Security: Secrets, signing keys, rate limiting, CORS, headers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Reliability: Retries, error handling, health checks, circuit breakers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Observability: Logging, metrics, alerts, dashboard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Deployment: CI/CD, rollback plan, database migrations, load testing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AI Workflows &amp; Enterprise Patterns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7.1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AI Workflow Basics (2 slides)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Module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AI Workflows &amp; Enterprise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AI-powered workflows with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 multi-agent orchestration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Retrieval-Augmented Generation (RAG) workflows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Handle human review loops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Challenge of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Why AI Needs Durable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Challenges: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Unpredictable Latency: LLM calls can take seconds to minutes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Rate Limits: API providers have strict limits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Cost Sensitivity: Each call costs money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Quality Variability: Outputs can be inconsistent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Human Review: Many outputs need human validation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Inngest handles all of these automatically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Multi-Agent Orchestration (2 slides)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Every Agent Is a Loop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Think → Act → Observe → Repeat → Done</a:t>
            </a:r>
            <a:br/>
            <a:r>
              <a:t>(LLM)   (Tool)  (Result)   (Loop)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 Show the agent loop structure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while (!done &amp;&amp; iterations &lt; maxIterations) {</a:t>
            </a:r>
            <a:br/>
            <a:r>
              <a:t>const llmResponse = await step.run('think', async () =&gt; {</a:t>
            </a:r>
            <a:br/>
            <a:r>
              <a:t>return await callLLM(systemPrompt, messages, tools);</a:t>
            </a:r>
            <a:br/>
            <a:r>
              <a:t>});</a:t>
            </a:r>
            <a:br/>
            <a:r>
              <a:t>if (toolCalls.length &gt; 0) {</a:t>
            </a:r>
            <a:br/>
            <a:r>
              <a:t>// Execute each tool</a:t>
            </a:r>
            <a:br/>
            <a:r>
              <a:t>for (const tc of toolCalls) {</a:t>
            </a:r>
            <a:br/>
            <a:r>
              <a:t>const toolResult = await step.run(`tool-${tc.name}`, async () =&gt; {</a:t>
            </a:r>
            <a:br/>
            <a:r>
              <a:t>return await executeTool(tc);</a:t>
            </a:r>
            <a:br/>
            <a:r>
              <a:t>});</a:t>
            </a:r>
            <a:br/>
            <a:r>
              <a:t>// Feed result back to LLM</a:t>
            </a:r>
            <a:br/>
            <a:r>
              <a:t>messages.push({ role: 'toolResult', content: toolResult });</a:t>
            </a:r>
            <a:br/>
            <a:r>
              <a:t>}</a:t>
            </a:r>
            <a:br/>
            <a:r>
              <a:t>} else {</a:t>
            </a:r>
            <a:br/>
            <a:r>
              <a:t>done = true;</a:t>
            </a:r>
            <a:br/>
            <a:r>
              <a:t>}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Each LLM call is a durable step, each tool execution is a durable step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Why Durable Steps Matter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The Durability Advantage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Without Durability: Agent fails on iteration 7, tool call 4. Everything is lost. Start over. Pay for 11 LLM calls again.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With Durability: Agent resumes from iteration 7, tool call 4. No work is duplicated. No state is lost.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Durability saves money and time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7.3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RAG Workflows (2 slides)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RAG — Answer Questions from Documents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Retrieve: Search vector database for relevant documents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Augment: Build prompt with retrieved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Generate: LLM answers based on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RAG combines retrieval with generation for accurate answers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RAG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RAG Workflow in Code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Retrieve documents: `vectorDB.search(query, limit)`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Augment prompt: Build context from documents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Generate response: LLM answers with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Evaluate quality: Check accuracy and completeness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Store history: Record conversation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All steps are durable — if retrieval fails, retry only retrieval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7.4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Human Review Loop (2 slides)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Validating AI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Human Review Loop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AI generates content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Quality check (low score → human review)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Assign reviewer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Wait for review decision (timeout with escalation)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Publish or reject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Human review is a durable step with timeout handling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Enterprise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Multi-Tenant AI Workflows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Tenant-specific concurrency limits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Quota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Fair resource allocation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ourier New"/>
              </a:defRPr>
            </a:pPr>
            <a:r>
              <a:t>concurrency: {</a:t>
            </a:r>
            <a:br/>
            <a:r>
              <a:t>limit: 10,</a:t>
            </a:r>
            <a:br/>
            <a:r>
              <a:t>scope: 'key',</a:t>
            </a:r>
            <a:br/>
            <a:r>
              <a:t>key: 'data.tenantId',</a:t>
            </a:r>
            <a:br/>
            <a:r>
              <a:t>},</a:t>
            </a:r>
            <a:br/>
            <a:r>
              <a:t>rateLimit: {</a:t>
            </a:r>
            <a:br/>
            <a:r>
              <a:t>limit: 100,</a:t>
            </a:r>
            <a:br/>
            <a:r>
              <a:t>period: '1m',</a:t>
            </a:r>
            <a:br/>
            <a:r>
              <a:t>key: 'data.tenantId',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Helvetica Neue"/>
              </a:defRPr>
            </a:pPr>
            <a: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Helvetica Neue"/>
              </a:defRPr>
            </a:pPr>
            <a:r>
              <a:t>Conclusion &amp; Next Steps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8.1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What You've Learned (2 slides)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You've Come a Long Way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Bullet Points: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Event-driven architecture fundamentals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Durable execution and state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High-performance patterns (fan-out, concurrency)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Long-running workflows and human-in-the-loop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Full-stack integration with React &amp; Next.js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Production deployment and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✅ AI workflows and enterprise patterns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WorkflowMindset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How You Think Has Changed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Before WorkflowMindset: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process this in the background?"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handle failures?"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track progress?"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prevent duplicates?"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After WorkflowMindset: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"What are the steps in this business process?"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"What happens if each step fails?"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roll back on failure?"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"What operations need to be idempotent?"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Insight: This mindset is the single most valuable outcome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Section 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Next Steps (2 slides)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Where to Go from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Continuing Your Journey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Next Steps: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 your own workflows: Apply these patterns to your business needs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Explore advanced patterns: AI workflows, event sourcing, CQRS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Join the Inngest community: Share experiences, learn from others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Contribute to open source: Help improve the ecosystem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Teach others: Share what you've learned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Helpful Resources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Links: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Inngest Documentation: https://www.inngest.com/docs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Inngest Discord Community: https://discord.gg/inngest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GitHub Repository: https://github.com/inngest/inngest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Inngest Blog: https://www.inngest.com/blog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WorkflowHub Code: [link to your repo]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Demo Slides (3 slides)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Hello World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Live Demo — Your First Function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What to Show: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client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function with step.sleep()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Start dev server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 via UI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View run in dashboard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Time: 5 minutes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Takeaway: "You can build a durable function in under a minute."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Long-Running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Live Demo — Human-in-the-Loop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What to Show: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approval workflow with waitForEvent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Send approval event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Watch workflow resume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Time: 5 minutes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Takeaway: "Workflows can pause for days and resume instantly."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AI Content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Live Demo — AI Workflow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What to Show: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Create AI workflow with step.ai.infer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 from UI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Show real-time status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View final output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Time: 5 minutes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Takeaway: "AI workflows with durability are production-ready."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Helvetica Neue"/>
              </a:defRPr>
            </a:pPr>
            <a:r>
              <a:t>Q&amp;A Preparation (1 slide)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Common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Title: Anticipating Audience Questions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Questions: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does Inngest compare to traditional queues?"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"Can I run Inngest on my existing infrastructure?"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"What happens to running workflows during deployments?"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"How do I handle errors in AI workflows?"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"What's the cost of using Inngest?"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"Can I use Inngest without a cloud platform?"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Preparation: Have answers ready for 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